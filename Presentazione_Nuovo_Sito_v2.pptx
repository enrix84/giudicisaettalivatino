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6" y="-5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IISS "Giudici Saetta e Livatino"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9A84C"/>
                </a:solidFill>
                <a:latin typeface="Calibri"/>
              </a:defRPr>
            </a:pPr>
            <a:r>
              <a:t>Ravanusa e Campobello di Licata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Proposta di adozione del nuovo sito web istituzionale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CC"/>
                </a:solidFill>
                <a:latin typeface="Calibri"/>
              </a:defRPr>
            </a:pPr>
            <a:r>
              <a:t>Presentazione per il Team Digitale - Febbraio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84C"/>
                </a:solidFill>
                <a:latin typeface="Calibri"/>
              </a:defRPr>
            </a:pPr>
            <a:r>
              <a:t>Conforme alle Linee Guida AgID e WCAG 2.1 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DD"/>
                </a:solidFill>
                <a:latin typeface="Calibri"/>
              </a:defRPr>
            </a:pPr>
            <a:r>
              <a:t>A cura del Prof. Enrico Maria Caruso - Docente di Informatica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Il </a:t>
            </a:r>
            <a:r>
              <a:rPr dirty="0" err="1"/>
              <a:t>sito</a:t>
            </a:r>
            <a:r>
              <a:rPr dirty="0"/>
              <a:t> </a:t>
            </a:r>
            <a:r>
              <a:rPr dirty="0" err="1"/>
              <a:t>attuale</a:t>
            </a:r>
            <a:r>
              <a:rPr dirty="0"/>
              <a:t>: le </a:t>
            </a:r>
            <a:r>
              <a:rPr dirty="0" err="1" smtClean="0"/>
              <a:t>criticit</a:t>
            </a:r>
            <a:r>
              <a:rPr lang="it-IT" dirty="0" smtClean="0"/>
              <a:t>à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Template Joomla JSN Pixel 2 risalente ai primi anni 2010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57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Non responsive: inutilizzabile su smartphone e tablet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rPr dirty="0" err="1"/>
              <a:t>Caricamento</a:t>
            </a:r>
            <a:r>
              <a:rPr dirty="0"/>
              <a:t> lento (3-6 secondi) per plugin e query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Vulnerabilita' di sicurezza: richiede aggiornamenti costanti di Joomla e 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Menu confuso con voci ridondanti, dropdown non funzionanti su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34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Non conforme ai requisiti di accessibilita' AgID (Legge 4/2004)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29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Documenti difficili da reperire, struttura dei contenuti poco intuitiva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23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Costi ricorrenti: hosting PHP/MySQL 100-300+ euro/anno + manutenzione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Il nuovo sito: moderno, veloce, sicuro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Design moderno e accattivante con palette istituzionale blu/oro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57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Mobile-first: navigazione perfetta su smartphone e tablet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Caricamento istantaneo (&lt;1 secondo) - sito statico senza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Sicurezza intrinseca: zero vulnerabilita' server-side, nessun CMS da aggiornare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Navigazione intuitiva con navbar sticky e menu ben organizzati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34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Conforme WCAG 2.1 AA e Linee Guida AgID sull'accessibilita'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29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Card grid per notizie, sezioni tematiche, documenti facilmente reperibili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23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Hosting gratuito (GitHub Pages, Netlify) - zero costi ricorrenti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Confronto: prima e dopo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2286000" cy="5486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Aspetto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0" y="1371600"/>
            <a:ext cx="4114800" cy="5486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Sito Attuale (Joomla)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371600"/>
            <a:ext cx="4114800" cy="5486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Nuovo Sito (Statico)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92024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Datato anni 2010, piatto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92024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Moderno, palette blu/oro, ombre morbide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68880"/>
            <a:ext cx="22860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46888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Non responsive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46888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Mobile-first, touch-friendly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175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301752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3-6 secondi caricamento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301752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&lt;1 secondo caricamento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66160"/>
            <a:ext cx="22860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Sicurezza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56616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rPr dirty="0" err="1" smtClean="0"/>
              <a:t>Vulnerabilit</a:t>
            </a:r>
            <a:r>
              <a:rPr lang="it-IT" dirty="0" smtClean="0"/>
              <a:t>à</a:t>
            </a:r>
            <a:r>
              <a:rPr dirty="0" smtClean="0"/>
              <a:t> </a:t>
            </a:r>
            <a:r>
              <a:rPr dirty="0" err="1"/>
              <a:t>frequenti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7223760" y="356616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rPr dirty="0"/>
              <a:t>Zero </a:t>
            </a:r>
            <a:r>
              <a:rPr dirty="0" err="1" smtClean="0"/>
              <a:t>vulnerabilit</a:t>
            </a:r>
            <a:r>
              <a:rPr lang="it-IT" dirty="0" smtClean="0"/>
              <a:t>à</a:t>
            </a:r>
            <a:r>
              <a:rPr dirty="0" smtClean="0"/>
              <a:t> </a:t>
            </a:r>
            <a:r>
              <a:rPr dirty="0"/>
              <a:t>server-side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11480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rPr dirty="0" err="1" smtClean="0"/>
              <a:t>Accessibilit</a:t>
            </a:r>
            <a:r>
              <a:rPr lang="it-IT" dirty="0" smtClean="0"/>
              <a:t>à</a:t>
            </a:r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3108960" y="411480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Non conforme AgID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411480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WCAG 2.1 AA conforme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663440"/>
            <a:ext cx="22860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Manutenzione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466344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Aggiornamenti costanti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466344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Zero manutenzione server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21208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Costo annuo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521208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rPr dirty="0" smtClean="0"/>
              <a:t>100</a:t>
            </a:r>
            <a:r>
              <a:rPr dirty="0"/>
              <a:t>+ euro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521208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0 euro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Confronto visivo: Homepage Desktop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PRIMA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9496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DOPO</a:t>
            </a:r>
          </a:p>
        </p:txBody>
      </p:sp>
      <p:pic>
        <p:nvPicPr>
          <p:cNvPr id="9" name="Picture 8" descr="vecchio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394960" cy="411480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pic>
        <p:nvPicPr>
          <p:cNvPr id="10" name="Picture 9" descr="nuovo_home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84134"/>
            <a:ext cx="5394960" cy="324612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48640" y="6126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3545"/>
                </a:solidFill>
                <a:latin typeface="Calibri"/>
              </a:defRPr>
            </a:pPr>
            <a:r>
              <a:t>Joomla JSN Pixel 2 - Layout datato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6126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8754"/>
                </a:solidFill>
                <a:latin typeface="Calibri"/>
              </a:defRPr>
            </a:pPr>
            <a:r>
              <a:t>Design moderno - Palette istituzionale blu/oro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Confronto visivo: Versione Mobile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411480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PRIMA (non responsive)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371600"/>
            <a:ext cx="411480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DOPO (mobile-first)</a:t>
            </a:r>
          </a:p>
        </p:txBody>
      </p:sp>
      <p:pic>
        <p:nvPicPr>
          <p:cNvPr id="9" name="Picture 8" descr="vecchio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849" y="1894117"/>
            <a:ext cx="3368351" cy="481193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pic>
        <p:nvPicPr>
          <p:cNvPr id="11" name="Immagin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712" y="1920240"/>
            <a:ext cx="3784528" cy="48693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Il nuovo sito nel dettaglio</a:t>
            </a:r>
          </a:p>
        </p:txBody>
      </p:sp>
      <p:pic>
        <p:nvPicPr>
          <p:cNvPr id="5" name="Picture 4" descr="nuovo_notiz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86400" cy="347472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Sezione Notizie - Card con categorie e toggle</a:t>
            </a:r>
          </a:p>
        </p:txBody>
      </p:sp>
      <p:pic>
        <p:nvPicPr>
          <p:cNvPr id="7" name="Picture 6" descr="nuovo_offer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47472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1792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Offerta Formativa - Card con gradiente per indirizzo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1109441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23 notizie organizzate in card con 6 categorie colorate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42432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4 indirizzi di studio con card gradient distinte per colore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98464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dirty="0"/>
              <a:t>• Toggle "</a:t>
            </a:r>
            <a:r>
              <a:rPr dirty="0" err="1"/>
              <a:t>Mostra</a:t>
            </a:r>
            <a:r>
              <a:rPr dirty="0"/>
              <a:t> </a:t>
            </a:r>
            <a:r>
              <a:rPr dirty="0" err="1"/>
              <a:t>tutte</a:t>
            </a:r>
            <a:r>
              <a:rPr dirty="0"/>
              <a:t>" per le </a:t>
            </a:r>
            <a:r>
              <a:rPr dirty="0" err="1"/>
              <a:t>notizie</a:t>
            </a:r>
            <a:r>
              <a:rPr dirty="0"/>
              <a:t> </a:t>
            </a:r>
            <a:r>
              <a:rPr dirty="0" err="1"/>
              <a:t>nascoste</a:t>
            </a:r>
            <a:r>
              <a:rPr dirty="0"/>
              <a:t> (17 </a:t>
            </a:r>
            <a:r>
              <a:rPr dirty="0" err="1"/>
              <a:t>su</a:t>
            </a:r>
            <a:r>
              <a:rPr dirty="0"/>
              <a:t> 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54496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Animazioni fade-in on scroll per un'esperienza moderna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Funzionalita' del nuovo sito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25 pagine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Organigramma, regolamenti,</a:t>
            </a:r>
            <a:br/>
            <a:r>
              <a:t>modulistica, contatti, sedi,</a:t>
            </a:r>
            <a:br/>
            <a:r>
              <a:t>calendario, orario lezioni...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23 notizie e avvisi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Card con layout a griglia,</a:t>
            </a:r>
            <a:br/>
            <a:r>
              <a:t>categorie colorate, toggle</a:t>
            </a:r>
            <a:br/>
            <a:r>
              <a:t>mostra/nascondi integrato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Offerta formativa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4 indirizzi di studio con</a:t>
            </a:r>
            <a:br/>
            <a:r>
              <a:t>schede dedicate: Scientifico,</a:t>
            </a:r>
            <a:br/>
            <a:r>
              <a:t>Scienze Umane, AFM, Biomedica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7 sezioni progetti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Erasmus+, PNRR, PON FESR,</a:t>
            </a:r>
            <a:br/>
            <a:r>
              <a:t>PCTO, Cambridge, STEAM,</a:t>
            </a:r>
            <a:br/>
            <a:r>
              <a:t>WeCanJob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15 banner istituzionali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Amm. Trasparente, Albo</a:t>
            </a:r>
            <a:br/>
            <a:r>
              <a:t>Pretorio, Accesso Civico,</a:t>
            </a:r>
            <a:br/>
            <a:r>
              <a:t>PNRR, Erasmus+...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Pannello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Gestione notizie via browser,</a:t>
            </a:r>
            <a:br/>
            <a:r>
              <a:t>pubblicazione con un click,</a:t>
            </a:r>
            <a:br/>
            <a:r>
              <a:t>backup automatico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 err="1" smtClean="0"/>
              <a:t>Accessibilit</a:t>
            </a:r>
            <a:r>
              <a:rPr lang="it-IT" dirty="0" smtClean="0"/>
              <a:t>à</a:t>
            </a:r>
            <a:r>
              <a:rPr dirty="0" smtClean="0"/>
              <a:t>: </a:t>
            </a:r>
            <a:r>
              <a:rPr dirty="0" err="1" smtClean="0"/>
              <a:t>conformit</a:t>
            </a:r>
            <a:r>
              <a:rPr lang="it-IT" dirty="0" smtClean="0"/>
              <a:t>à</a:t>
            </a:r>
            <a:r>
              <a:rPr dirty="0" smtClean="0"/>
              <a:t> </a:t>
            </a:r>
            <a:r>
              <a:rPr dirty="0"/>
              <a:t>WCAG 2.1 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rPr dirty="0"/>
              <a:t>Il </a:t>
            </a:r>
            <a:r>
              <a:rPr dirty="0" err="1"/>
              <a:t>sito</a:t>
            </a:r>
            <a:r>
              <a:rPr dirty="0"/>
              <a:t> </a:t>
            </a:r>
            <a:r>
              <a:rPr lang="it-IT" dirty="0" smtClean="0"/>
              <a:t>è</a:t>
            </a:r>
            <a:r>
              <a:rPr dirty="0" smtClean="0"/>
              <a:t> </a:t>
            </a:r>
            <a:r>
              <a:rPr dirty="0" err="1"/>
              <a:t>conforme</a:t>
            </a:r>
            <a:r>
              <a:rPr dirty="0"/>
              <a:t> </a:t>
            </a:r>
            <a:r>
              <a:rPr dirty="0" err="1"/>
              <a:t>alla</a:t>
            </a:r>
            <a:r>
              <a:rPr dirty="0"/>
              <a:t> </a:t>
            </a:r>
            <a:r>
              <a:rPr dirty="0" err="1"/>
              <a:t>Legge</a:t>
            </a:r>
            <a:r>
              <a:rPr dirty="0"/>
              <a:t> 4/2004 (</a:t>
            </a:r>
            <a:r>
              <a:rPr dirty="0" err="1"/>
              <a:t>Legge</a:t>
            </a:r>
            <a:r>
              <a:rPr dirty="0"/>
              <a:t> </a:t>
            </a:r>
            <a:r>
              <a:rPr dirty="0" err="1"/>
              <a:t>Stanca</a:t>
            </a:r>
            <a:r>
              <a:rPr dirty="0"/>
              <a:t>) e </a:t>
            </a:r>
            <a:r>
              <a:rPr dirty="0" err="1"/>
              <a:t>alle</a:t>
            </a:r>
            <a:r>
              <a:rPr dirty="0"/>
              <a:t> </a:t>
            </a:r>
            <a:r>
              <a:rPr dirty="0" err="1"/>
              <a:t>Linee</a:t>
            </a:r>
            <a:r>
              <a:rPr dirty="0"/>
              <a:t> </a:t>
            </a:r>
            <a:r>
              <a:rPr dirty="0" err="1"/>
              <a:t>Guida</a:t>
            </a:r>
            <a:r>
              <a:rPr dirty="0"/>
              <a:t> </a:t>
            </a:r>
            <a:r>
              <a:rPr dirty="0" err="1"/>
              <a:t>AgID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Skip link "Vai al contenuto principale"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Struttura semantica HTML5 (main, nav, footer)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Attributi ARIA su menu, dropdown, toggle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aria-expanded sui controlli espandibili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aria-hidden sulle icone decorative (SVG)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Navigazione completa da tastiera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Indicatori di focus visibili (outline oro 3px)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Contrasti &gt;= 4.5:1 (testo) e &gt;= 3:1 (UI)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Design responsive mobile-first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prefers-reduced-motion rispettato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Testi alternativi su immagini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Avviso "si apre in nuova finestra" per link esterni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Dichiarazione di accessibilita' nel footer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Meccanismo di feedback per segnalazioni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107286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A6B"/>
                </a:solidFill>
                <a:latin typeface="Calibri"/>
              </a:defRPr>
            </a:pPr>
            <a:r>
              <a:rPr dirty="0" err="1"/>
              <a:t>Dichiarazione</a:t>
            </a:r>
            <a:r>
              <a:rPr dirty="0"/>
              <a:t> di </a:t>
            </a:r>
            <a:r>
              <a:rPr dirty="0" err="1" smtClean="0"/>
              <a:t>Accessibilit</a:t>
            </a:r>
            <a:r>
              <a:rPr lang="it-IT" dirty="0" smtClean="0"/>
              <a:t>à</a:t>
            </a:r>
            <a:r>
              <a:rPr dirty="0" smtClean="0"/>
              <a:t> </a:t>
            </a:r>
            <a:r>
              <a:rPr dirty="0" err="1"/>
              <a:t>compilabile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form.agid.gov.it </a:t>
            </a:r>
            <a:r>
              <a:rPr dirty="0" err="1"/>
              <a:t>entro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23 </a:t>
            </a:r>
            <a:r>
              <a:rPr dirty="0" err="1"/>
              <a:t>settembre</a:t>
            </a:r>
            <a:r>
              <a:rPr dirty="0"/>
              <a:t> di </a:t>
            </a:r>
            <a:r>
              <a:rPr dirty="0" err="1"/>
              <a:t>ogni</a:t>
            </a:r>
            <a:r>
              <a:rPr dirty="0"/>
              <a:t> anno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 err="1" smtClean="0"/>
              <a:t>Usabilit</a:t>
            </a:r>
            <a:r>
              <a:rPr lang="it-IT" dirty="0" smtClean="0"/>
              <a:t>à</a:t>
            </a:r>
            <a:r>
              <a:rPr dirty="0" smtClean="0"/>
              <a:t>: </a:t>
            </a:r>
            <a:r>
              <a:rPr dirty="0" err="1"/>
              <a:t>Linee</a:t>
            </a:r>
            <a:r>
              <a:rPr dirty="0"/>
              <a:t> </a:t>
            </a:r>
            <a:r>
              <a:rPr dirty="0" err="1"/>
              <a:t>Guida</a:t>
            </a:r>
            <a:r>
              <a:rPr dirty="0"/>
              <a:t> </a:t>
            </a:r>
            <a:r>
              <a:rPr dirty="0" err="1"/>
              <a:t>AgID</a:t>
            </a:r>
            <a:r>
              <a:rPr dirty="0"/>
              <a:t> per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siti</a:t>
            </a:r>
            <a:r>
              <a:rPr dirty="0"/>
              <a:t> 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Mobile-First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Interfaccia ottimizzata per</a:t>
            </a:r>
            <a:br/>
            <a:r>
              <a:t>smartphone e tablet.</a:t>
            </a:r>
            <a:br/>
            <a:r>
              <a:t>Breakpoint a 480px, 768px, 1024px.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Navigazione intuitiva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Navbar sticky, hamburger menu,</a:t>
            </a:r>
            <a:br/>
            <a:r>
              <a:t>dropdown organizzati per</a:t>
            </a:r>
            <a:br/>
            <a:r>
              <a:t>categoria. Max 2 click.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Contenuti accessibili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Card grid per notizie, doc-list</a:t>
            </a:r>
            <a:br/>
            <a:r>
              <a:t>per documenti, tabelle</a:t>
            </a:r>
            <a:br/>
            <a:r>
              <a:t>per orari. Tutto a portata.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Tipografia leggibile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Font Inter (corpo) e Playfair</a:t>
            </a:r>
            <a:br/>
            <a:r>
              <a:t>Display (titoli). Line-height</a:t>
            </a:r>
            <a:br/>
            <a:r>
              <a:t>1.6, contrasti elevati.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Sito statico: caricamento</a:t>
            </a:r>
            <a:br/>
            <a:r>
              <a:t>&lt;1 secondo. Nessun database,</a:t>
            </a:r>
            <a:br/>
            <a:r>
              <a:t>nessun framework pesante.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Coerenza visiva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Palette istituzionale uniforme,</a:t>
            </a:r>
            <a:br/>
            <a:r>
              <a:t>componenti riutilizzabili,</a:t>
            </a:r>
            <a:br/>
            <a:r>
              <a:t>design system coerente.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Gestione autonoma: il pannello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Calibri"/>
              </a:defRPr>
            </a:pPr>
            <a:r>
              <a:t>La segreteria gestisce le notizie in totale autonomia, senza competenze tecniche.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Doppio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La segretaria fa doppio click</a:t>
            </a:r>
            <a:br/>
            <a:r>
              <a:t>su "Avvia Gestione Sito.bat"</a:t>
            </a:r>
          </a:p>
        </p:txBody>
      </p:sp>
      <p:sp>
        <p:nvSpPr>
          <p:cNvPr id="8" name="Oval 7"/>
          <p:cNvSpPr/>
          <p:nvPr/>
        </p:nvSpPr>
        <p:spPr>
          <a:xfrm>
            <a:off x="429768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Browser si apre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Si apre automaticamente il</a:t>
            </a:r>
            <a:br/>
            <a:r>
              <a:t>pannello admin nel browser</a:t>
            </a:r>
          </a:p>
        </p:txBody>
      </p:sp>
      <p:sp>
        <p:nvSpPr>
          <p:cNvPr id="11" name="Oval 10"/>
          <p:cNvSpPr/>
          <p:nvPr/>
        </p:nvSpPr>
        <p:spPr>
          <a:xfrm>
            <a:off x="722376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Compila il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Inserisce titolo, categoria,</a:t>
            </a:r>
            <a:br/>
            <a:r>
              <a:t>data, descrizione, allegati</a:t>
            </a:r>
          </a:p>
        </p:txBody>
      </p:sp>
      <p:sp>
        <p:nvSpPr>
          <p:cNvPr id="14" name="Oval 13"/>
          <p:cNvSpPr/>
          <p:nvPr/>
        </p:nvSpPr>
        <p:spPr>
          <a:xfrm>
            <a:off x="1014984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Pubblica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Clicca "Pubblica sul sito"</a:t>
            </a:r>
            <a:br/>
            <a:r>
              <a:t>e le notizie sono online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03520"/>
            <a:ext cx="11094415" cy="10972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Caratteristiche aggiuntive: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Backup automatico ad ogni salvataggio   • Riordinamento notizie drag &amp; drop   • Eliminazione con conferma   • Server locale leggero (Python)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Caratteristiche peculiari del nuovo sito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Anno scolastico auto-aggiornante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Si aggiorna automaticamente ogni 1 settembre</a:t>
            </a:r>
            <a:br/>
            <a:r>
              <a:t>tramite JavaScript, senza intervento manuale.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Sito statico ultra-veloce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Nessun database, nessun PHP, nessun server</a:t>
            </a:r>
            <a:br/>
            <a:r>
              <a:t>di backend. Solo file HTML/CSS/JS puri.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Pannello admin integrato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La segreteria pubblica notizie con un click.</a:t>
            </a:r>
            <a:br/>
            <a:r>
              <a:t>Nessuna competenza tecnica richiesta.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811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40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Backup automatico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Ogni salvataggio crea una copia di sicurezza.</a:t>
            </a:r>
            <a:br/>
            <a:r>
              <a:t>Impossibile perdere dati accidentalmente.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23 notizie + 25 pagine + 15 banner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Tutti i contenuti del sito originale preservati</a:t>
            </a:r>
            <a:br/>
            <a:r>
              <a:t>e riorganizzati in modo moderno e intuitivo.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3375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204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Server locale con un click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Doppio click su un file .bat per avviare</a:t>
            </a:r>
            <a:br/>
            <a:r>
              <a:t>il server di gestione. Zero installazioni.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Link PDF tutti verificati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29200"/>
            <a:ext cx="23774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rPr dirty="0" err="1"/>
              <a:t>Ogni</a:t>
            </a:r>
            <a:r>
              <a:rPr dirty="0"/>
              <a:t> link a </a:t>
            </a:r>
            <a:r>
              <a:rPr dirty="0" err="1"/>
              <a:t>documenti</a:t>
            </a:r>
            <a:r>
              <a:rPr dirty="0"/>
              <a:t> PDF </a:t>
            </a:r>
            <a:r>
              <a:rPr lang="it-IT" dirty="0" smtClean="0"/>
              <a:t>è</a:t>
            </a:r>
            <a:r>
              <a:rPr dirty="0" smtClean="0"/>
              <a:t> </a:t>
            </a:r>
            <a:r>
              <a:rPr dirty="0" err="1"/>
              <a:t>stato</a:t>
            </a:r>
            <a:r>
              <a:rPr dirty="0"/>
              <a:t> </a:t>
            </a:r>
            <a:r>
              <a:rPr dirty="0" err="1" smtClean="0"/>
              <a:t>verificato</a:t>
            </a:r>
            <a:r>
              <a:rPr lang="it-IT" dirty="0" smtClean="0"/>
              <a:t> </a:t>
            </a:r>
            <a:r>
              <a:rPr dirty="0" smtClean="0"/>
              <a:t>e </a:t>
            </a:r>
            <a:r>
              <a:rPr dirty="0" err="1"/>
              <a:t>punta</a:t>
            </a:r>
            <a:r>
              <a:rPr dirty="0"/>
              <a:t> al </a:t>
            </a:r>
            <a:r>
              <a:rPr dirty="0" err="1"/>
              <a:t>dominio</a:t>
            </a:r>
            <a:r>
              <a:rPr dirty="0"/>
              <a:t> </a:t>
            </a:r>
            <a:r>
              <a:rPr dirty="0" err="1"/>
              <a:t>originale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scuola</a:t>
            </a:r>
            <a:r>
              <a:rPr dirty="0"/>
              <a:t>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811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2811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640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Copiabile su chiavetta USB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5029200"/>
            <a:ext cx="23774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rPr dirty="0" err="1"/>
              <a:t>L'intero</a:t>
            </a:r>
            <a:r>
              <a:rPr dirty="0"/>
              <a:t> </a:t>
            </a:r>
            <a:r>
              <a:rPr dirty="0" err="1"/>
              <a:t>sito</a:t>
            </a:r>
            <a:r>
              <a:rPr dirty="0"/>
              <a:t> </a:t>
            </a:r>
            <a:r>
              <a:rPr lang="it-IT" dirty="0" smtClean="0"/>
              <a:t>è</a:t>
            </a:r>
            <a:r>
              <a:rPr dirty="0" smtClean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singola</a:t>
            </a:r>
            <a:r>
              <a:rPr dirty="0"/>
              <a:t> </a:t>
            </a:r>
            <a:r>
              <a:rPr dirty="0" err="1"/>
              <a:t>cartella</a:t>
            </a:r>
            <a:r>
              <a:rPr dirty="0"/>
              <a:t>.</a:t>
            </a:r>
            <a:br>
              <a:rPr dirty="0"/>
            </a:br>
            <a:r>
              <a:rPr dirty="0"/>
              <a:t>Backup = </a:t>
            </a:r>
            <a:r>
              <a:rPr dirty="0" err="1"/>
              <a:t>copia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chiavetta</a:t>
            </a:r>
            <a:r>
              <a:rPr dirty="0"/>
              <a:t>. </a:t>
            </a:r>
            <a:r>
              <a:rPr dirty="0" err="1"/>
              <a:t>Migrazione</a:t>
            </a:r>
            <a:r>
              <a:rPr dirty="0"/>
              <a:t> = </a:t>
            </a:r>
            <a:r>
              <a:rPr dirty="0" err="1"/>
              <a:t>copia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Come effettuare il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50292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6B"/>
                </a:solidFill>
                <a:latin typeface="Calibri"/>
              </a:defRPr>
            </a:pPr>
            <a:r>
              <a:t>OPZIONE A: Hosting esistente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Pubblicare sullo STESSO server attuale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5176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Accedere al pannello di controllo hosting (cPanel)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0040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Aprire il File Manager nella document root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49039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Spostare/rinominare la cartella Joomla attuale come backup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297679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7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Caricare TUTTI i file del nuovo sito (upload ZIP + estrai)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84632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46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Verificare che index.html sia nella root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39496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94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Il sito e' online! Stessa URL, nessuna modifica DNS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394960" cy="50292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53949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6B"/>
                </a:solidFill>
                <a:latin typeface="Calibri"/>
              </a:defRPr>
            </a:pPr>
            <a:r>
              <a:t>OPZIONE B: Hosting gratuito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GitHub Pages / Netlify / Cloudflare Pages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65176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6517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Creare account gratuito su GitHub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320040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2004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Creare un repository e caricare i file del sito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3749039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74903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Attivare GitHub Pages nelle impostazioni del repo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297679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297679"/>
            <a:ext cx="4389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dirty="0"/>
              <a:t>Il </a:t>
            </a:r>
            <a:r>
              <a:rPr dirty="0" err="1"/>
              <a:t>sito</a:t>
            </a:r>
            <a:r>
              <a:rPr dirty="0"/>
              <a:t> </a:t>
            </a:r>
            <a:r>
              <a:rPr lang="it-IT" dirty="0" smtClean="0"/>
              <a:t>potrebbe essere</a:t>
            </a:r>
            <a:r>
              <a:rPr dirty="0" smtClean="0"/>
              <a:t> </a:t>
            </a:r>
            <a:r>
              <a:rPr dirty="0"/>
              <a:t>online </a:t>
            </a:r>
            <a:r>
              <a:rPr dirty="0" err="1"/>
              <a:t>su</a:t>
            </a:r>
            <a:r>
              <a:rPr dirty="0"/>
              <a:t> </a:t>
            </a:r>
            <a:r>
              <a:rPr lang="it-IT" dirty="0" err="1" smtClean="0"/>
              <a:t>giudicisaettalivatino</a:t>
            </a:r>
            <a:r>
              <a:rPr dirty="0" smtClean="0"/>
              <a:t>.github.io</a:t>
            </a:r>
            <a:endParaRPr dirty="0"/>
          </a:p>
        </p:txBody>
      </p:sp>
      <p:sp>
        <p:nvSpPr>
          <p:cNvPr id="33" name="Oval 32"/>
          <p:cNvSpPr/>
          <p:nvPr/>
        </p:nvSpPr>
        <p:spPr>
          <a:xfrm>
            <a:off x="6492240" y="484632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8463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dirty="0" err="1"/>
              <a:t>Configurare</a:t>
            </a:r>
            <a:r>
              <a:rPr dirty="0"/>
              <a:t> </a:t>
            </a:r>
            <a:r>
              <a:rPr dirty="0" err="1"/>
              <a:t>dominio</a:t>
            </a:r>
            <a:r>
              <a:rPr dirty="0"/>
              <a:t> </a:t>
            </a:r>
            <a:r>
              <a:rPr dirty="0" err="1"/>
              <a:t>personalizzato</a:t>
            </a:r>
            <a:r>
              <a:rPr dirty="0"/>
              <a:t> (</a:t>
            </a:r>
            <a:r>
              <a:rPr dirty="0" err="1"/>
              <a:t>opzionale</a:t>
            </a:r>
            <a:r>
              <a:rPr dirty="0"/>
              <a:t>):</a:t>
            </a:r>
            <a:br>
              <a:rPr dirty="0"/>
            </a:br>
            <a:r>
              <a:rPr dirty="0"/>
              <a:t>     saettalivatinoravanusa.edu.it &gt; GitHub Pages</a:t>
            </a:r>
          </a:p>
        </p:txBody>
      </p:sp>
      <p:sp>
        <p:nvSpPr>
          <p:cNvPr id="35" name="Oval 34"/>
          <p:cNvSpPr/>
          <p:nvPr/>
        </p:nvSpPr>
        <p:spPr>
          <a:xfrm>
            <a:off x="6492240" y="539496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3949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rPr dirty="0"/>
              <a:t>HTTPS </a:t>
            </a:r>
            <a:r>
              <a:rPr dirty="0" err="1"/>
              <a:t>automatico</a:t>
            </a:r>
            <a:r>
              <a:rPr dirty="0"/>
              <a:t> e </a:t>
            </a:r>
            <a:r>
              <a:rPr dirty="0" err="1"/>
              <a:t>gratuito</a:t>
            </a:r>
            <a:r>
              <a:rPr dirty="0"/>
              <a:t> </a:t>
            </a:r>
            <a:r>
              <a:rPr dirty="0" err="1"/>
              <a:t>incluso</a:t>
            </a:r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A6B"/>
                </a:solidFill>
                <a:latin typeface="Calibri"/>
              </a:defRPr>
            </a:pPr>
            <a:r>
              <a:t>Requisiti tecnici: NESSUNO. Il sito non richiede database, PHP, o configurazioni server. Solo file statici.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Vantaggi economici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411480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3545"/>
                </a:solidFill>
                <a:latin typeface="Calibri"/>
              </a:defRPr>
            </a:pPr>
            <a:r>
              <a:t>Sito attuale (Joomla)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9496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Hosting PHP + 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50 - 150 euro/anno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Manutenzione CMS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060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Tempo-uomo significativo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Licenze template/plugin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108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Variabile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Interventi di emergenza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Frequenti e costosi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TOTALE STIMATO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100 - 300+ euro/anno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5394960" cy="4114800"/>
          </a:xfrm>
          <a:prstGeom prst="rect">
            <a:avLst/>
          </a:prstGeom>
          <a:solidFill>
            <a:srgbClr val="D4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98754"/>
                </a:solidFill>
                <a:latin typeface="Calibri"/>
              </a:defRPr>
            </a:pPr>
            <a:r>
              <a:t>Nuovo sito (Statico)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920240"/>
            <a:ext cx="5394960" cy="36576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GRATUITO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06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Manutenzione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6060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Licenze software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108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Nessuna (open source)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Interventi emergenza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Rari e semplici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572000"/>
            <a:ext cx="502920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TOTALE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 euro/anno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5760720"/>
            <a:ext cx="7619695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68880" y="5852160"/>
            <a:ext cx="731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Calibri"/>
              </a:defRPr>
            </a:pPr>
            <a:r>
              <a:rPr dirty="0" err="1"/>
              <a:t>Risparmio</a:t>
            </a:r>
            <a:r>
              <a:rPr dirty="0"/>
              <a:t> </a:t>
            </a:r>
            <a:r>
              <a:rPr dirty="0" err="1"/>
              <a:t>annuo</a:t>
            </a:r>
            <a:r>
              <a:rPr dirty="0"/>
              <a:t>: </a:t>
            </a:r>
            <a:r>
              <a:rPr dirty="0" smtClean="0"/>
              <a:t>100  300</a:t>
            </a:r>
            <a:r>
              <a:rPr dirty="0"/>
              <a:t>+ euro + ore di </a:t>
            </a:r>
            <a:r>
              <a:rPr dirty="0" err="1"/>
              <a:t>manutenzione</a:t>
            </a:r>
            <a:r>
              <a:rPr dirty="0"/>
              <a:t> </a:t>
            </a:r>
            <a:r>
              <a:rPr dirty="0" err="1"/>
              <a:t>risparmiate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5" y="4918353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Conclusioni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</a:t>
            </a:r>
            <a:r>
              <a:rPr dirty="0" err="1"/>
              <a:t>Esperienza</a:t>
            </a:r>
            <a:r>
              <a:rPr dirty="0"/>
              <a:t> </a:t>
            </a:r>
            <a:r>
              <a:rPr dirty="0" err="1"/>
              <a:t>utente</a:t>
            </a:r>
            <a:r>
              <a:rPr dirty="0"/>
              <a:t> </a:t>
            </a:r>
            <a:r>
              <a:rPr dirty="0" err="1"/>
              <a:t>superiore</a:t>
            </a:r>
            <a:r>
              <a:rPr dirty="0"/>
              <a:t> per </a:t>
            </a:r>
            <a:r>
              <a:rPr dirty="0" err="1"/>
              <a:t>famiglie</a:t>
            </a:r>
            <a:r>
              <a:rPr dirty="0"/>
              <a:t>, </a:t>
            </a:r>
            <a:r>
              <a:rPr dirty="0" err="1"/>
              <a:t>studenti</a:t>
            </a:r>
            <a:r>
              <a:rPr dirty="0"/>
              <a:t> e </a:t>
            </a:r>
            <a:r>
              <a:rPr dirty="0" err="1" smtClean="0"/>
              <a:t>personale</a:t>
            </a:r>
            <a:r>
              <a:rPr lang="it-IT" dirty="0" smtClean="0"/>
              <a:t> di segreteria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9448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</a:t>
            </a:r>
            <a:r>
              <a:rPr dirty="0" err="1" smtClean="0"/>
              <a:t>Conformit</a:t>
            </a:r>
            <a:r>
              <a:rPr lang="it-IT" dirty="0" smtClean="0"/>
              <a:t>à</a:t>
            </a:r>
            <a:r>
              <a:rPr dirty="0" smtClean="0"/>
              <a:t> </a:t>
            </a:r>
            <a:r>
              <a:rPr dirty="0" err="1"/>
              <a:t>alle</a:t>
            </a:r>
            <a:r>
              <a:rPr dirty="0"/>
              <a:t> </a:t>
            </a:r>
            <a:r>
              <a:rPr dirty="0" err="1"/>
              <a:t>Linee</a:t>
            </a:r>
            <a:r>
              <a:rPr dirty="0"/>
              <a:t> </a:t>
            </a:r>
            <a:r>
              <a:rPr dirty="0" err="1"/>
              <a:t>Guida</a:t>
            </a:r>
            <a:r>
              <a:rPr dirty="0"/>
              <a:t> </a:t>
            </a:r>
            <a:r>
              <a:rPr dirty="0" err="1"/>
              <a:t>AgID</a:t>
            </a:r>
            <a:r>
              <a:rPr dirty="0"/>
              <a:t> e WCAG 2.1 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448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</a:t>
            </a:r>
            <a:r>
              <a:rPr lang="it-IT" dirty="0" smtClean="0"/>
              <a:t>Possibile a</a:t>
            </a:r>
            <a:r>
              <a:rPr dirty="0" err="1" smtClean="0"/>
              <a:t>zzeramento</a:t>
            </a:r>
            <a:r>
              <a:rPr dirty="0" smtClean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costi</a:t>
            </a:r>
            <a:r>
              <a:rPr dirty="0"/>
              <a:t> di hosting e </a:t>
            </a:r>
            <a:r>
              <a:rPr dirty="0" err="1"/>
              <a:t>manutenzione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</a:t>
            </a:r>
            <a:r>
              <a:rPr dirty="0" err="1"/>
              <a:t>Sicurezza</a:t>
            </a:r>
            <a:r>
              <a:rPr dirty="0"/>
              <a:t> </a:t>
            </a:r>
            <a:r>
              <a:rPr dirty="0" err="1"/>
              <a:t>intrinseca</a:t>
            </a:r>
            <a:r>
              <a:rPr dirty="0"/>
              <a:t> </a:t>
            </a:r>
            <a:r>
              <a:rPr dirty="0" err="1"/>
              <a:t>senza</a:t>
            </a:r>
            <a:r>
              <a:rPr dirty="0"/>
              <a:t> aggiornamenti </a:t>
            </a:r>
            <a:r>
              <a:rPr dirty="0" err="1"/>
              <a:t>continui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Autonomia gestionale per il team digitale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60520"/>
            <a:ext cx="9448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</a:t>
            </a:r>
            <a:r>
              <a:rPr dirty="0" err="1" smtClean="0"/>
              <a:t>Accessibilit</a:t>
            </a:r>
            <a:r>
              <a:rPr lang="it-IT" dirty="0" smtClean="0"/>
              <a:t>à</a:t>
            </a:r>
            <a:r>
              <a:rPr dirty="0" smtClean="0"/>
              <a:t> </a:t>
            </a:r>
            <a:r>
              <a:rPr dirty="0" err="1"/>
              <a:t>certificabile</a:t>
            </a:r>
            <a:r>
              <a:rPr dirty="0"/>
              <a:t> (</a:t>
            </a:r>
            <a:r>
              <a:rPr dirty="0" err="1"/>
              <a:t>Dichiarazione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form.agid.gov.it)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7787" y="5212080"/>
            <a:ext cx="103628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Calibri"/>
              </a:defRPr>
            </a:pPr>
            <a:r>
              <a:rPr dirty="0"/>
              <a:t>Si </a:t>
            </a:r>
            <a:r>
              <a:rPr dirty="0" err="1"/>
              <a:t>sottopone</a:t>
            </a:r>
            <a:r>
              <a:rPr dirty="0"/>
              <a:t> la </a:t>
            </a:r>
            <a:r>
              <a:rPr dirty="0" err="1"/>
              <a:t>presente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 </a:t>
            </a:r>
            <a:r>
              <a:rPr dirty="0" err="1"/>
              <a:t>all'approvazione</a:t>
            </a:r>
            <a:r>
              <a:rPr dirty="0"/>
              <a:t> del Team </a:t>
            </a:r>
            <a:r>
              <a:rPr dirty="0" err="1" smtClean="0"/>
              <a:t>Digitale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Calibri"/>
              </a:defRPr>
            </a:pPr>
            <a:r>
              <a:t>Febbraio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8534095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4846320"/>
            <a:ext cx="8534095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"Non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tratta</a:t>
            </a:r>
            <a:r>
              <a:rPr dirty="0"/>
              <a:t> di </a:t>
            </a:r>
            <a:r>
              <a:rPr dirty="0" err="1"/>
              <a:t>cambiare</a:t>
            </a:r>
            <a:r>
              <a:rPr dirty="0"/>
              <a:t> un </a:t>
            </a:r>
            <a:r>
              <a:rPr dirty="0" err="1"/>
              <a:t>sito</a:t>
            </a:r>
            <a:r>
              <a:rPr dirty="0"/>
              <a:t> web.</a:t>
            </a:r>
            <a:br>
              <a:rPr dirty="0"/>
            </a:br>
            <a:r>
              <a:rPr dirty="0"/>
              <a:t>Si </a:t>
            </a:r>
            <a:r>
              <a:rPr dirty="0" err="1"/>
              <a:t>tratta</a:t>
            </a:r>
            <a:r>
              <a:rPr dirty="0"/>
              <a:t> di dare </a:t>
            </a:r>
            <a:r>
              <a:rPr dirty="0" err="1"/>
              <a:t>alla</a:t>
            </a:r>
            <a:r>
              <a:rPr dirty="0"/>
              <a:t> nostra </a:t>
            </a:r>
            <a:r>
              <a:rPr dirty="0" err="1" smtClean="0"/>
              <a:t>comunit</a:t>
            </a:r>
            <a:r>
              <a:rPr lang="it-IT" dirty="0" smtClean="0"/>
              <a:t>à</a:t>
            </a:r>
            <a:r>
              <a:rPr dirty="0" smtClean="0"/>
              <a:t> </a:t>
            </a:r>
            <a:r>
              <a:rPr dirty="0" err="1" smtClean="0"/>
              <a:t>scolastica</a:t>
            </a:r>
            <a:r>
              <a:rPr dirty="0"/>
              <a:t/>
            </a:r>
            <a:br>
              <a:rPr dirty="0"/>
            </a:br>
            <a:r>
              <a:rPr dirty="0"/>
              <a:t>lo </a:t>
            </a:r>
            <a:r>
              <a:rPr dirty="0" err="1"/>
              <a:t>strumento</a:t>
            </a:r>
            <a:r>
              <a:rPr dirty="0"/>
              <a:t> </a:t>
            </a:r>
            <a:r>
              <a:rPr dirty="0" err="1"/>
              <a:t>digitale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merita</a:t>
            </a:r>
            <a:r>
              <a:rPr dirty="0"/>
              <a:t>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9A84C"/>
                </a:solidFill>
                <a:latin typeface="Calibri"/>
              </a:defRPr>
            </a:pPr>
            <a:r>
              <a:t>Prof. Enrico Maria Caruso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DD"/>
                </a:solidFill>
                <a:latin typeface="Calibri"/>
              </a:defRPr>
            </a:pPr>
            <a:r>
              <a:t>Docente di Informatica - IISS "Giudici Saetta e Livatino"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1176</Words>
  <Application>Microsoft Office PowerPoint</Application>
  <PresentationFormat>Widescreen</PresentationFormat>
  <Paragraphs>230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/>
  <cp:keywords/>
  <dc:description>generated using python-pptx</dc:description>
  <cp:lastModifiedBy>EnRiX</cp:lastModifiedBy>
  <cp:revision>3</cp:revision>
  <dcterms:created xsi:type="dcterms:W3CDTF">2013-01-27T09:14:16Z</dcterms:created>
  <dcterms:modified xsi:type="dcterms:W3CDTF">2026-02-28T08:34:03Z</dcterms:modified>
  <cp:category/>
</cp:coreProperties>
</file>