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IISS "Giudici Saetta e Livatino"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9A84C"/>
                </a:solidFill>
                <a:latin typeface="Calibri"/>
              </a:defRPr>
            </a:pPr>
            <a:r>
              <a:t>Ravanusa e Campobello di Licata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Proposta di adozione del nuovo sito web istituzionale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CC"/>
                </a:solidFill>
                <a:latin typeface="Calibri"/>
              </a:defRPr>
            </a:pPr>
            <a:r>
              <a:t>Presentazione per il Team Digitale - Marzo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A84C"/>
                </a:solidFill>
                <a:latin typeface="Calibri"/>
              </a:defRPr>
            </a:pPr>
            <a:r>
              <a:t>Conforme alle Linee Guida AgID e WCAG 2.1 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BBBDD"/>
                </a:solidFill>
                <a:latin typeface="Calibri"/>
              </a:defRPr>
            </a:pPr>
            <a:r>
              <a:t>A cura del Prof. Enrico Maria Caruso - Docente di Informatica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Il sito attuale: le criticità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Template Joomla JSN Pixel 2 risalente ai primi anni 2010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57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Non responsive: inutilizzabile su smartphone e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517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Caricamento lento (3-6 secondi) per plugin e query 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461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Vulnerabilità di sicurezza: richiede aggiornamenti costanti di Joomla e PHP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404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Menu confuso con voci ridondanti, dropdown non funzionanti su mobile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34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434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Non conforme ai requisiti di accessibilità AgID (Legge 4/2004)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0292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Documenti difficili da reperire, struttura dei contenuti poco intuitiva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23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6235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Costi ricorrenti: hosting PHP/MySQL 100-300+ euro/anno + manutenzione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Il nuovo sito: moderno, veloce, sicuro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98754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Design moderno e accattivante con palette istituzionale blu/oro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98754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57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Mobile-first: navigazione perfetta su smartphone e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98754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517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Caricamento istantaneo (&lt;1 secondo) - sito statico senza 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98754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461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Sicurezza intrinseca: zero vulnerabilità server-side, nessun CMS da aggiornare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98754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404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Navigazione intuitiva con navbar sticky e menu ben organizzati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34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98754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434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Conforme WCAG 2.1 AA e Linee Guida AgID sull'accessibilità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98754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0292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Card grid per notizie, sezioni tematiche, documenti facilmente reperibili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23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98754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6235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Hosting gratuito (GitHub Pages, Netlify) - zero costi ricorrenti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Confronto: prima e dopo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2286000" cy="54864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Aspetto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0" y="1371600"/>
            <a:ext cx="4114800" cy="54864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Sito Attuale (Joomla)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371600"/>
            <a:ext cx="4114800" cy="54864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Nuovo Sito (Statico)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A3A6B"/>
                </a:solidFill>
                <a:latin typeface="Calibri"/>
              </a:defRPr>
            </a:pPr>
            <a:r>
              <a:t>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1920240"/>
            <a:ext cx="4114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DC3545"/>
                </a:solidFill>
                <a:latin typeface="Calibri"/>
              </a:defRPr>
            </a:pPr>
            <a:r>
              <a:t>Datato anni 2010, piatto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1920240"/>
            <a:ext cx="4114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8754"/>
                </a:solidFill>
                <a:latin typeface="Calibri"/>
              </a:defRPr>
            </a:pPr>
            <a:r>
              <a:t>Moderno, palette blu/oro, ombre morbide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468880"/>
            <a:ext cx="2286000" cy="548640"/>
          </a:xfrm>
          <a:prstGeom prst="rect">
            <a:avLst/>
          </a:prstGeom>
          <a:solidFill>
            <a:srgbClr val="F5F6FA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A3A6B"/>
                </a:solidFill>
                <a:latin typeface="Calibri"/>
              </a:defRPr>
            </a:pPr>
            <a:r>
              <a:t>Mobile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2468880"/>
            <a:ext cx="4114800" cy="548640"/>
          </a:xfrm>
          <a:prstGeom prst="rect">
            <a:avLst/>
          </a:prstGeom>
          <a:solidFill>
            <a:srgbClr val="F5F6FA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DC3545"/>
                </a:solidFill>
                <a:latin typeface="Calibri"/>
              </a:defRPr>
            </a:pPr>
            <a:r>
              <a:t>Non responsive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468880"/>
            <a:ext cx="4114800" cy="548640"/>
          </a:xfrm>
          <a:prstGeom prst="rect">
            <a:avLst/>
          </a:prstGeom>
          <a:solidFill>
            <a:srgbClr val="F5F6FA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8754"/>
                </a:solidFill>
                <a:latin typeface="Calibri"/>
              </a:defRPr>
            </a:pPr>
            <a:r>
              <a:t>Mobile-first, touch-friendly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01752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A3A6B"/>
                </a:solidFill>
                <a:latin typeface="Calibri"/>
              </a:defRPr>
            </a:pPr>
            <a:r>
              <a:t>Performance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3017520"/>
            <a:ext cx="4114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DC3545"/>
                </a:solidFill>
                <a:latin typeface="Calibri"/>
              </a:defRPr>
            </a:pPr>
            <a:r>
              <a:t>3-6 secondi caricamento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3017520"/>
            <a:ext cx="4114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8754"/>
                </a:solidFill>
                <a:latin typeface="Calibri"/>
              </a:defRPr>
            </a:pPr>
            <a:r>
              <a:t>&lt;1 secondo caricamento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566160"/>
            <a:ext cx="2286000" cy="548640"/>
          </a:xfrm>
          <a:prstGeom prst="rect">
            <a:avLst/>
          </a:prstGeom>
          <a:solidFill>
            <a:srgbClr val="F5F6FA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A3A6B"/>
                </a:solidFill>
                <a:latin typeface="Calibri"/>
              </a:defRPr>
            </a:pPr>
            <a:r>
              <a:t>Sicurezza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3566160"/>
            <a:ext cx="4114800" cy="548640"/>
          </a:xfrm>
          <a:prstGeom prst="rect">
            <a:avLst/>
          </a:prstGeom>
          <a:solidFill>
            <a:srgbClr val="F5F6FA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DC3545"/>
                </a:solidFill>
                <a:latin typeface="Calibri"/>
              </a:defRPr>
            </a:pPr>
            <a:r>
              <a:t>Vulnerabilità frequenti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23760" y="3566160"/>
            <a:ext cx="4114800" cy="548640"/>
          </a:xfrm>
          <a:prstGeom prst="rect">
            <a:avLst/>
          </a:prstGeom>
          <a:solidFill>
            <a:srgbClr val="F5F6FA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8754"/>
                </a:solidFill>
                <a:latin typeface="Calibri"/>
              </a:defRPr>
            </a:pPr>
            <a:r>
              <a:t>Zero vulnerabilità server-side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11480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A3A6B"/>
                </a:solidFill>
                <a:latin typeface="Calibri"/>
              </a:defRPr>
            </a:pPr>
            <a:r>
              <a:t>Accessibilità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4114800"/>
            <a:ext cx="4114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DC3545"/>
                </a:solidFill>
                <a:latin typeface="Calibri"/>
              </a:defRPr>
            </a:pPr>
            <a:r>
              <a:t>Non conforme AgID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4114800"/>
            <a:ext cx="4114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8754"/>
                </a:solidFill>
                <a:latin typeface="Calibri"/>
              </a:defRPr>
            </a:pPr>
            <a:r>
              <a:t>WCAG 2.1 AA conforme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663440"/>
            <a:ext cx="2286000" cy="548640"/>
          </a:xfrm>
          <a:prstGeom prst="rect">
            <a:avLst/>
          </a:prstGeom>
          <a:solidFill>
            <a:srgbClr val="F5F6FA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A3A6B"/>
                </a:solidFill>
                <a:latin typeface="Calibri"/>
              </a:defRPr>
            </a:pPr>
            <a:r>
              <a:t>Manutenzione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4663440"/>
            <a:ext cx="4114800" cy="548640"/>
          </a:xfrm>
          <a:prstGeom prst="rect">
            <a:avLst/>
          </a:prstGeom>
          <a:solidFill>
            <a:srgbClr val="F5F6FA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DC3545"/>
                </a:solidFill>
                <a:latin typeface="Calibri"/>
              </a:defRPr>
            </a:pPr>
            <a:r>
              <a:t>Aggiornamenti costanti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3760" y="4663440"/>
            <a:ext cx="4114800" cy="548640"/>
          </a:xfrm>
          <a:prstGeom prst="rect">
            <a:avLst/>
          </a:prstGeom>
          <a:solidFill>
            <a:srgbClr val="F5F6FA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8754"/>
                </a:solidFill>
                <a:latin typeface="Calibri"/>
              </a:defRPr>
            </a:pPr>
            <a:r>
              <a:t>Zero manutenzione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21208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A3A6B"/>
                </a:solidFill>
                <a:latin typeface="Calibri"/>
              </a:defRPr>
            </a:pPr>
            <a:r>
              <a:t>Costo annuo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5212080"/>
            <a:ext cx="4114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DC3545"/>
                </a:solidFill>
                <a:latin typeface="Calibri"/>
              </a:defRPr>
            </a:pPr>
            <a:r>
              <a:t>100-300+ euro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5212080"/>
            <a:ext cx="4114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8754"/>
                </a:solidFill>
                <a:latin typeface="Calibri"/>
              </a:defRPr>
            </a:pPr>
            <a:r>
              <a:t>0 euro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Confronto visivo: Homepage Desktop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9496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PRIMA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371600"/>
            <a:ext cx="5394960" cy="45720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DOPO</a:t>
            </a:r>
          </a:p>
        </p:txBody>
      </p:sp>
      <p:pic>
        <p:nvPicPr>
          <p:cNvPr id="9" name="Picture 8" descr="vecchio_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5394960" cy="4114800"/>
          </a:xfrm>
          <a:prstGeom prst="rect">
            <a:avLst/>
          </a:prstGeom>
          <a:ln w="25400">
            <a:solidFill>
              <a:srgbClr val="E0E3EA"/>
            </a:solidFill>
          </a:ln>
        </p:spPr>
      </p:pic>
      <p:pic>
        <p:nvPicPr>
          <p:cNvPr id="10" name="Picture 9" descr="nuovo_home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920240"/>
            <a:ext cx="5394960" cy="4114800"/>
          </a:xfrm>
          <a:prstGeom prst="rect">
            <a:avLst/>
          </a:prstGeom>
          <a:ln w="25400">
            <a:solidFill>
              <a:srgbClr val="E0E3E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48640" y="61264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C3545"/>
                </a:solidFill>
                <a:latin typeface="Calibri"/>
              </a:defRPr>
            </a:pPr>
            <a:r>
              <a:t>Joomla JSN Pixel 2 - Layout datato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61264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98754"/>
                </a:solidFill>
                <a:latin typeface="Calibri"/>
              </a:defRPr>
            </a:pPr>
            <a:r>
              <a:t>Design moderno - Palette istituzionale blu/oro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Confronto visivo: Versione Mobile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371600"/>
            <a:ext cx="411480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PRIMA (non responsive)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371600"/>
            <a:ext cx="4114800" cy="45720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DOPO (mobile-first)</a:t>
            </a:r>
          </a:p>
        </p:txBody>
      </p:sp>
      <p:pic>
        <p:nvPicPr>
          <p:cNvPr id="9" name="Picture 8" descr="vecchio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011680"/>
            <a:ext cx="3200400" cy="4572000"/>
          </a:xfrm>
          <a:prstGeom prst="rect">
            <a:avLst/>
          </a:prstGeom>
          <a:ln w="25400">
            <a:solidFill>
              <a:srgbClr val="E0E3EA"/>
            </a:solidFill>
          </a:ln>
        </p:spPr>
      </p:pic>
      <p:pic>
        <p:nvPicPr>
          <p:cNvPr id="10" name="Picture 9" descr="nuovo_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011680"/>
            <a:ext cx="3200400" cy="4572000"/>
          </a:xfrm>
          <a:prstGeom prst="rect">
            <a:avLst/>
          </a:prstGeom>
          <a:ln w="25400">
            <a:solidFill>
              <a:srgbClr val="E0E3EA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Il nuovo sito nel dettaglio</a:t>
            </a:r>
          </a:p>
        </p:txBody>
      </p:sp>
      <p:pic>
        <p:nvPicPr>
          <p:cNvPr id="5" name="Picture 4" descr="nuovo_notiz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486400" cy="3474720"/>
          </a:xfrm>
          <a:prstGeom prst="rect">
            <a:avLst/>
          </a:prstGeom>
          <a:ln w="25400">
            <a:solidFill>
              <a:srgbClr val="E0E3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937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A6B"/>
                </a:solidFill>
                <a:latin typeface="Calibri"/>
              </a:defRPr>
            </a:pPr>
            <a:r>
              <a:t>Sezione Notizie - Card con categorie e toggle</a:t>
            </a:r>
          </a:p>
        </p:txBody>
      </p:sp>
      <p:pic>
        <p:nvPicPr>
          <p:cNvPr id="7" name="Picture 6" descr="nuovo_offer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3474720"/>
          </a:xfrm>
          <a:prstGeom prst="rect">
            <a:avLst/>
          </a:prstGeom>
          <a:ln w="25400">
            <a:solidFill>
              <a:srgbClr val="E0E3E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17920" y="4937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A6B"/>
                </a:solidFill>
                <a:latin typeface="Calibri"/>
              </a:defRPr>
            </a:pPr>
            <a:r>
              <a:t>Offerta Formativa - Card con gradiente per indirizzo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94960"/>
            <a:ext cx="1109441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23 notizie organizzate in card con 6 categorie colorate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42432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4 indirizzi di studio con card gradient distinte per colore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98464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Toggle "Mostra tutte" per le notizie nascoste (17 su 23)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254496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Animazioni fade-in on scroll per un'esperienza moderna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Funzionalità del nuovo sito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64592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25 pagine interne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10312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Organigramma, regolamenti,</a:t>
            </a:r>
            <a:br/>
            <a:r>
              <a:t>modulistica, contatti, sedi,</a:t>
            </a:r>
            <a:br/>
            <a:r>
              <a:t>calendario, orario lezioni...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64592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23 notizie e avvisi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10312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Card con layout a griglia,</a:t>
            </a:r>
            <a:br/>
            <a:r>
              <a:t>categorie colorate, toggle</a:t>
            </a:r>
            <a:br/>
            <a:r>
              <a:t>mostra/nascondi integrato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46304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64592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Offerta formativa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10312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4 indirizzi di studio con</a:t>
            </a:r>
            <a:br/>
            <a:r>
              <a:t>schede dedicate: Scientifico,</a:t>
            </a:r>
            <a:br/>
            <a:r>
              <a:t>Scienze Umane, AFM, Biomedica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7 sezioni progetti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66344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Erasmus+, PNRR, PON FESR,</a:t>
            </a:r>
            <a:br/>
            <a:r>
              <a:t>PCTO, Cambridge, STEAM,</a:t>
            </a:r>
            <a:br/>
            <a:r>
              <a:t>WeCanJob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02336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2062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15 banner istituzionali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66344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Amm. Trasparente, Albo</a:t>
            </a:r>
            <a:br/>
            <a:r>
              <a:t>Pretorio, Accesso Civico,</a:t>
            </a:r>
            <a:br/>
            <a:r>
              <a:t>PNRR, Erasmus+...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02336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42062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Pannello admin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66344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Gestione notizie, pagine e</a:t>
            </a:r>
            <a:br/>
            <a:r>
              <a:t>organigramma via browser.</a:t>
            </a:r>
            <a:br/>
            <a:r>
              <a:t>Pubblicazione online automatica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Accessibilità: conformità WCAG 2.1 AA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Il sito è conforme alla Legge 4/2004 (Legge Stanca) e alle Linee Guida AgID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Skip link "Vai al contenuto principale"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Struttura semantica HTML5 (main, nav, footer)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Attributi ARIA su menu, dropdown, toggle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aria-expanded sui controlli espandibili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aria-hidden sulle icone decorative (SVG)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Navigazione completa da tastiera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7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Indicatori di focus visibili (outline oro 3px)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9202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Contrasti &gt;= 4.5:1 (testo) e &gt;= 3:1 (UI)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68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Design responsive mobile-first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017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prefers-reduced-motion rispettato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566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Testi alternativi su immagini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Avviso "si apre in nuova finestra" per link esterni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6634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Dichiarazione di accessibilità nel footer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21207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98754"/>
                </a:solidFill>
                <a:latin typeface="Calibri"/>
              </a:defRPr>
            </a:pPr>
            <a:r>
              <a:t>✓  Meccanismo di feedback per segnalazioni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760720"/>
            <a:ext cx="11094415" cy="640080"/>
          </a:xfrm>
          <a:prstGeom prst="rect">
            <a:avLst/>
          </a:prstGeom>
          <a:solidFill>
            <a:srgbClr val="E3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8064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  <a:latin typeface="Calibri"/>
              </a:defRPr>
            </a:pPr>
            <a:r>
              <a:t>Dichiarazione di Accessibilità compilabile su form.agid.gov.it entro il 23 settembre di ogni anno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Usabilità: Linee Guida AgID per i siti PA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64592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Mobile-First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10312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Interfaccia ottimizzata per</a:t>
            </a:r>
            <a:br/>
            <a:r>
              <a:t>smartphone e tablet.</a:t>
            </a:r>
            <a:br/>
            <a:r>
              <a:t>Breakpoint a 480px, 768px, 1024px.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64592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Navigazione intuitiva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10312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Navbar sticky, hamburger menu,</a:t>
            </a:r>
            <a:br/>
            <a:r>
              <a:t>dropdown organizzati per</a:t>
            </a:r>
            <a:br/>
            <a:r>
              <a:t>categoria. Max 2 click.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46304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64592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Contenuti accessibili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10312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Card grid per notizie, doc-list</a:t>
            </a:r>
            <a:br/>
            <a:r>
              <a:t>per documenti, tabelle</a:t>
            </a:r>
            <a:br/>
            <a:r>
              <a:t>per orari. Tutto a portata.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Tipografia leggibile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66344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Font Inter (corpo) e Playfair</a:t>
            </a:r>
            <a:br/>
            <a:r>
              <a:t>Display (titoli). Line-height</a:t>
            </a:r>
            <a:br/>
            <a:r>
              <a:t>1.6, contrasti elevati.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02336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2062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66344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Sito statico: caricamento</a:t>
            </a:r>
            <a:br/>
            <a:r>
              <a:t>&lt;1 secondo. Nessun database,</a:t>
            </a:r>
            <a:br/>
            <a:r>
              <a:t>nessun framework pesante.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02336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42062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Coerenza visiva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66344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Palette istituzionale uniforme,</a:t>
            </a:r>
            <a:br/>
            <a:r>
              <a:t>componenti riutilizzabili,</a:t>
            </a:r>
            <a:br/>
            <a:r>
              <a:t>design system coerente.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Gestione autonoma: il pannello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D2D2D"/>
                </a:solidFill>
                <a:latin typeface="Calibri"/>
              </a:defRPr>
            </a:pPr>
            <a:r>
              <a:t>La segreteria gestisce le notizie in totale autonomia, senza competenze tecniche.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2560320"/>
            <a:ext cx="731520" cy="731520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F2847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A6B"/>
                </a:solidFill>
                <a:latin typeface="Calibri"/>
              </a:defRPr>
            </a:pPr>
            <a:r>
              <a:t>Doppio click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La segretaria fa doppio click</a:t>
            </a:r>
            <a:br/>
            <a:r>
              <a:t>su "Avvia Gestione Sito.bat"</a:t>
            </a:r>
          </a:p>
        </p:txBody>
      </p:sp>
      <p:sp>
        <p:nvSpPr>
          <p:cNvPr id="8" name="Oval 7"/>
          <p:cNvSpPr/>
          <p:nvPr/>
        </p:nvSpPr>
        <p:spPr>
          <a:xfrm>
            <a:off x="4297680" y="2560320"/>
            <a:ext cx="731520" cy="731520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F2847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A6B"/>
                </a:solidFill>
                <a:latin typeface="Calibri"/>
              </a:defRPr>
            </a:pPr>
            <a:r>
              <a:t>Browser si apre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93192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Si apre automaticamente il</a:t>
            </a:r>
            <a:br/>
            <a:r>
              <a:t>pannello admin nel browser</a:t>
            </a:r>
          </a:p>
        </p:txBody>
      </p:sp>
      <p:sp>
        <p:nvSpPr>
          <p:cNvPr id="11" name="Oval 10"/>
          <p:cNvSpPr/>
          <p:nvPr/>
        </p:nvSpPr>
        <p:spPr>
          <a:xfrm>
            <a:off x="7223760" y="2560320"/>
            <a:ext cx="731520" cy="731520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F2847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A6B"/>
                </a:solidFill>
                <a:latin typeface="Calibri"/>
              </a:defRPr>
            </a:pPr>
            <a:r>
              <a:t>Compila il 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Inserisce titolo, categoria,</a:t>
            </a:r>
            <a:br/>
            <a:r>
              <a:t>data, descrizione, allegati</a:t>
            </a:r>
          </a:p>
        </p:txBody>
      </p:sp>
      <p:sp>
        <p:nvSpPr>
          <p:cNvPr id="14" name="Oval 13"/>
          <p:cNvSpPr/>
          <p:nvPr/>
        </p:nvSpPr>
        <p:spPr>
          <a:xfrm>
            <a:off x="10149840" y="2560320"/>
            <a:ext cx="731520" cy="731520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F2847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A6B"/>
                </a:solidFill>
                <a:latin typeface="Calibri"/>
              </a:defRPr>
            </a:pPr>
            <a:r>
              <a:t>Pubblica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93192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Clicca "Pubblica sul sito"</a:t>
            </a:r>
            <a:br/>
            <a:r>
              <a:t>e le notizie sono online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303520"/>
            <a:ext cx="11094415" cy="109728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949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Caratteristiche aggiuntive: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60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Backup automatico ad ogni salvataggio   • Riordinamento notizie drag &amp; drop   • Eliminazione con conferma   • Server locale leggero (Python)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Sicurezza: Autenticazione e Gestione Utenti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Il pannello admin è protetto da un sistema di login con ruoli e gestione utenti.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53949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Login e Sicurezza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Schermata di login con username e password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906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Password PBKDF2-SHA256, 100.000 iterazioni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958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Salt random per utente (constant-time compare)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6849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Cookie HttpOnly + SameSite=Strict (no XSS/CSRF)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074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Sessioni con scadenza automatica (8 ore)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Cambio password con verifica della vecchia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85231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Avviso password predefinita al primo avvio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011680"/>
            <a:ext cx="53949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194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Ruoli e Gestione Utenti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5176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0" y="2651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Due ruoli: Admin ed Editor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906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Admin: gestione completa + tab Utenti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52958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Editor: gestione notizie e pagine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6849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Creazione/eliminazione utenti (solo admin)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4074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Cambio ruolo inline dalla tabella utenti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846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Protezione ultimo admin (non eliminabile)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285231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Protezione auto-eliminazione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309360"/>
            <a:ext cx="11094415" cy="457200"/>
          </a:xfrm>
          <a:prstGeom prst="rect">
            <a:avLst/>
          </a:prstGeom>
          <a:solidFill>
            <a:srgbClr val="E3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3367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A6B"/>
                </a:solidFill>
                <a:latin typeface="Calibri"/>
              </a:defRPr>
            </a:pPr>
            <a:r>
              <a:t>Nessuna dipendenza esterna: tutto integrato nel server Python locale. Utenti salvati in data/users.json.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Privacy: Cookie Banner conforme al GDPR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Banner informativo sui cookie conforme al Regolamento UE 2016/679 (GDPR) e alle linee guida del Garante Privacy.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860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Il Cookie Banner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98754"/>
                </a:solidFill>
                <a:latin typeface="Calibri"/>
              </a:defRPr>
            </a:pPr>
            <a:r>
              <a:t>✓  Appare alla prima visita su tutte le pagine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906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98754"/>
                </a:solidFill>
                <a:latin typeface="Calibri"/>
              </a:defRPr>
            </a:pPr>
            <a:r>
              <a:t>✓  Tre opzioni: Accetta / Rifiuta / Personalizza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381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98754"/>
                </a:solidFill>
                <a:latin typeface="Calibri"/>
              </a:defRPr>
            </a:pPr>
            <a:r>
              <a:t>✓  Pannello dettagli con toggle per categoria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856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98754"/>
                </a:solidFill>
                <a:latin typeface="Calibri"/>
              </a:defRPr>
            </a:pPr>
            <a:r>
              <a:t>✓  Link "Preferenze cookie" nel footer del sito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33087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98754"/>
                </a:solidFill>
                <a:latin typeface="Calibri"/>
              </a:defRPr>
            </a:pPr>
            <a:r>
              <a:t>✓  Consenso salvato in localStorage (no cookie aggiuntivi)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0312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Categorie di Cookie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74320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Tecnici necessari: sessione admin (HttpOnly)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906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  Sempre attivi, non disattivabili dall'utente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381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Servizi terze parti: Google Fonts (tipografia)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7856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  Disattivabili dall'utente tramite il pannello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133087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Nessun cookie di profilazione o pubblicitario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572000"/>
            <a:ext cx="11094415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475488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Conformità normativa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21208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731520" y="5212080"/>
            <a:ext cx="1072865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98754"/>
                </a:solidFill>
                <a:latin typeface="Calibri"/>
              </a:defRPr>
            </a:pPr>
            <a:r>
              <a:t>✓  GDPR (Reg. UE 2016/679) - Consenso informato e granulare per cookie non necessari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532120"/>
            <a:ext cx="1072865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98754"/>
                </a:solidFill>
                <a:latin typeface="Calibri"/>
              </a:defRPr>
            </a:pPr>
            <a:r>
              <a:t>✓  Codice Privacy italiano (D.lgs. 196/2003 aggiornato) - Informativa chiara e accessibile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852160"/>
            <a:ext cx="1072865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98754"/>
                </a:solidFill>
                <a:latin typeface="Calibri"/>
              </a:defRPr>
            </a:pPr>
            <a:r>
              <a:t>✓  Linee guida Garante Privacy 10 giugno 2021 - Banner con "Accetta", "Rifiuta" e "Personalizza"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172200"/>
            <a:ext cx="1072865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98754"/>
                </a:solidFill>
                <a:latin typeface="Calibri"/>
              </a:defRPr>
            </a:pPr>
            <a:r>
              <a:t>✓  Accessibilità WCAG 2.1 AA - Banner navigabile da tastiera, focus visibili, aria-label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Organigramma Scolastico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Pagina pubblica e gestione admin completa dell'organigramma dell'istituto.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53949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Pagina pubblica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Organigramma completo e navigabile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906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6 sezioni: Dirigenza, Staff, Coordinatori,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958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    Referenti, Dipartimenti, Commissioni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6849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41 incarichi con nome e ruolo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074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Layout card responsive mobile-first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Dati caricati da JSON (aggiornamento live)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85231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Accessibile: semantica HTML, ARIA, focus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011680"/>
            <a:ext cx="53949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194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Gestione Admin (4 tab)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5176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0" y="2651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Tab Organigramma nel pannello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906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Gestione sezioni: aggiungi/rimuovi/riordina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52958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Gestione incarichi per sezione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6849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Anno scolastico configurabile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4074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Anteprima live prima di pubblicare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846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Backup automatico ad ogni salvataggio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285231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Dati dal verbale del Collegio Docenti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309360"/>
            <a:ext cx="11094415" cy="457200"/>
          </a:xfrm>
          <a:prstGeom prst="rect">
            <a:avLst/>
          </a:prstGeom>
          <a:solidFill>
            <a:srgbClr val="E3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3367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A6B"/>
                </a:solidFill>
                <a:latin typeface="Calibri"/>
              </a:defRPr>
            </a:pPr>
            <a:r>
              <a:t>Dati estratti dal verbale del Collegio Docenti. La segreteria aggiorna l'organigramma in autonomia.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Pubblicazione online: GitHub o FTP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Le modifiche vengono pubblicate automaticamente online. Due metodi disponibili:</a:t>
            </a:r>
            <a:br/>
            <a:r>
              <a:t>GitHub API (hosting gratuito) oppure FTP/FTPS (hosting tradizionale cPanel).</a:t>
            </a:r>
          </a:p>
        </p:txBody>
      </p:sp>
      <p:sp>
        <p:nvSpPr>
          <p:cNvPr id="6" name="Oval 5"/>
          <p:cNvSpPr/>
          <p:nvPr/>
        </p:nvSpPr>
        <p:spPr>
          <a:xfrm>
            <a:off x="1737360" y="2743200"/>
            <a:ext cx="731520" cy="731520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F2847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A6B"/>
                </a:solidFill>
                <a:latin typeface="Calibri"/>
              </a:defRPr>
            </a:pPr>
            <a:r>
              <a:t>Modifica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La segretaria modifica notizie,</a:t>
            </a:r>
            <a:br/>
            <a:r>
              <a:t>pagine o organigramma</a:t>
            </a:r>
            <a:br/>
            <a:r>
              <a:t>nel pannello admin</a:t>
            </a:r>
          </a:p>
        </p:txBody>
      </p:sp>
      <p:sp>
        <p:nvSpPr>
          <p:cNvPr id="9" name="Oval 8"/>
          <p:cNvSpPr/>
          <p:nvPr/>
        </p:nvSpPr>
        <p:spPr>
          <a:xfrm>
            <a:off x="5394960" y="2743200"/>
            <a:ext cx="731520" cy="731520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F2847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657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A6B"/>
                </a:solidFill>
                <a:latin typeface="Calibri"/>
              </a:defRPr>
            </a:pPr>
            <a:r>
              <a:t>Pubblica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114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Clicca il pulsante "Pubblica"</a:t>
            </a:r>
            <a:br/>
            <a:r>
              <a:t>come sempre: il salvataggio</a:t>
            </a:r>
            <a:br/>
            <a:r>
              <a:t>locale avviene normalmente</a:t>
            </a:r>
          </a:p>
        </p:txBody>
      </p:sp>
      <p:sp>
        <p:nvSpPr>
          <p:cNvPr id="12" name="Oval 11"/>
          <p:cNvSpPr/>
          <p:nvPr/>
        </p:nvSpPr>
        <p:spPr>
          <a:xfrm>
            <a:off x="9052560" y="2743200"/>
            <a:ext cx="731520" cy="731520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F2847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657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A6B"/>
                </a:solidFill>
                <a:latin typeface="Calibri"/>
              </a:defRPr>
            </a:pPr>
            <a:r>
              <a:t>Online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114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Il server sincronizza</a:t>
            </a:r>
            <a:br/>
            <a:r>
              <a:t>automaticamente via GitHub</a:t>
            </a:r>
            <a:br/>
            <a:r>
              <a:t>o FTP. Sito aggiornato!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8346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9A84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8346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9A84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120640"/>
            <a:ext cx="53949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53035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GitHub Pages (API)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57607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Hosting gratuito, HTTPS incluso.</a:t>
            </a:r>
            <a:br/>
            <a:r>
              <a:t>Nessun Git da installare.</a:t>
            </a:r>
            <a:br/>
            <a:r>
              <a:t>Ideale per siti edu.it su GitHub.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5120640"/>
            <a:ext cx="53949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53035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FTP / FTPS (hosting tradizionale)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7607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Upload diretto su cPanel/hosting.</a:t>
            </a:r>
            <a:br/>
            <a:r>
              <a:t>Connessione sicura TLS.</a:t>
            </a:r>
            <a:br/>
            <a:r>
              <a:t>Perfetto per il server attuale.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Impostazioni: configurazione sync da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Il metodo di pubblicazione si configura direttamente dal pannello admin, senza toccare file di configurazione.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53949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Tab Impostazioni (solo admin)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Nuovo tab nel pannello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906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Visibile solo per utenti 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958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Scelta metodo: Nessuno / GitHub / FTP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6849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Campi configurazione dinamici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074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Pulsante "Testa Connessione"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Pulsante "Salva Impostazioni"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85231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98754"/>
                </a:solidFill>
                <a:latin typeface="Calibri"/>
              </a:defRPr>
            </a:pPr>
            <a:r>
              <a:t>✓  Password/token sempre mascherati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011680"/>
            <a:ext cx="53949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194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  <a:latin typeface="Calibri"/>
              </a:defRPr>
            </a:pPr>
            <a:r>
              <a:t>Campi configurazione FTP/FTPS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5176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0" y="2651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Host del server FTP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906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Porta (default: 21)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52958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Username e Password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6849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Percorso remoto (es. /public_html)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4074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Checkbox connessione sicura (TLS)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846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Test connessione prima di salvare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285231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Creazione automatica directory remote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309360"/>
            <a:ext cx="11094415" cy="457200"/>
          </a:xfrm>
          <a:prstGeom prst="rect">
            <a:avLst/>
          </a:prstGeom>
          <a:solidFill>
            <a:srgbClr val="E3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3367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A6B"/>
                </a:solidFill>
                <a:latin typeface="Calibri"/>
              </a:defRPr>
            </a:pPr>
            <a:r>
              <a:t>La segreteria configura il metodo di pubblicazione online in totale autonomia, senza toccare file di configurazione.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Caratteristiche peculiari del nuovo 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2743200" cy="2194560"/>
          </a:xfrm>
          <a:prstGeom prst="roundRect">
            <a:avLst/>
          </a:prstGeom>
          <a:solidFill>
            <a:srgbClr val="F5F6FA"/>
          </a:solidFill>
          <a:ln w="1270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74320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9A84C"/>
                </a:solidFill>
                <a:latin typeface="Calibri"/>
              </a:defRPr>
            </a:pPr>
            <a:r>
              <a:t>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A6B"/>
                </a:solidFill>
                <a:latin typeface="Calibri"/>
              </a:defRPr>
            </a:pPr>
            <a:r>
              <a:t>Anno scolastico auto-aggiornante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Si aggiorna automaticamente ogni 1 settembre</a:t>
            </a:r>
            <a:br/>
            <a:r>
              <a:t>tramite JavaScript, senza intervento manuale.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743200" cy="2194560"/>
          </a:xfrm>
          <a:prstGeom prst="roundRect">
            <a:avLst/>
          </a:prstGeom>
          <a:solidFill>
            <a:srgbClr val="F5F6FA"/>
          </a:solidFill>
          <a:ln w="1270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371600"/>
            <a:ext cx="274320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9A84C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11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A6B"/>
                </a:solidFill>
                <a:latin typeface="Calibri"/>
              </a:defRPr>
            </a:pPr>
            <a:r>
              <a:t>Sito statico ultra-veloce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4688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Nessun database, nessun PHP, nessun server</a:t>
            </a:r>
            <a:br/>
            <a:r>
              <a:t>di backend. Solo file HTML/CSS/JS puri.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371600"/>
            <a:ext cx="2743200" cy="2194560"/>
          </a:xfrm>
          <a:prstGeom prst="roundRect">
            <a:avLst/>
          </a:prstGeom>
          <a:solidFill>
            <a:srgbClr val="F5F6FA"/>
          </a:solidFill>
          <a:ln w="1270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371600"/>
            <a:ext cx="274320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9A84C"/>
                </a:solidFill>
                <a:latin typeface="Calibri"/>
              </a:defRPr>
            </a:pPr>
            <a:r>
              <a:t>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11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A6B"/>
                </a:solidFill>
                <a:latin typeface="Calibri"/>
              </a:defRPr>
            </a:pPr>
            <a:r>
              <a:t>Pannello admin integrato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La segreteria pubblica notizie con un click.</a:t>
            </a:r>
            <a:br/>
            <a:r>
              <a:t>Nessuna competenza tecnica richiesta.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1371600"/>
            <a:ext cx="2743200" cy="2194560"/>
          </a:xfrm>
          <a:prstGeom prst="roundRect">
            <a:avLst/>
          </a:prstGeom>
          <a:solidFill>
            <a:srgbClr val="F5F6FA"/>
          </a:solidFill>
          <a:ln w="1270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1371600"/>
            <a:ext cx="274320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9A84C"/>
                </a:solidFill>
                <a:latin typeface="Calibri"/>
              </a:defRPr>
            </a:pPr>
            <a:r>
              <a:t>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011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A6B"/>
                </a:solidFill>
                <a:latin typeface="Calibri"/>
              </a:defRPr>
            </a:pPr>
            <a:r>
              <a:t>Backup automatico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24688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Ogni salvataggio crea una copia di sicurezza.</a:t>
            </a:r>
            <a:br/>
            <a:r>
              <a:t>Impossibile perdere dati accidentalmente.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931920"/>
            <a:ext cx="2743200" cy="2194560"/>
          </a:xfrm>
          <a:prstGeom prst="roundRect">
            <a:avLst/>
          </a:prstGeom>
          <a:solidFill>
            <a:srgbClr val="F5F6FA"/>
          </a:solidFill>
          <a:ln w="1270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931920"/>
            <a:ext cx="274320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9A84C"/>
                </a:solidFill>
                <a:latin typeface="Calibri"/>
              </a:defRPr>
            </a:pPr>
            <a: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572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A6B"/>
                </a:solidFill>
                <a:latin typeface="Calibri"/>
              </a:defRPr>
            </a:pPr>
            <a:r>
              <a:t>23 notizie + 25 pagine + 15 banner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0292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Tutti i contenuti del sito originale preservati</a:t>
            </a:r>
            <a:br/>
            <a:r>
              <a:t>e riorganizzati in modo moderno e intuitivo.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3931920"/>
            <a:ext cx="2743200" cy="2194560"/>
          </a:xfrm>
          <a:prstGeom prst="roundRect">
            <a:avLst/>
          </a:prstGeom>
          <a:solidFill>
            <a:srgbClr val="F5F6FA"/>
          </a:solidFill>
          <a:ln w="1270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37560" y="3931920"/>
            <a:ext cx="274320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9A84C"/>
                </a:solidFill>
                <a:latin typeface="Calibri"/>
              </a:defRPr>
            </a:pPr>
            <a:r>
              <a:t>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4572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A6B"/>
                </a:solidFill>
                <a:latin typeface="Calibri"/>
              </a:defRPr>
            </a:pPr>
            <a:r>
              <a:t>Server locale con un click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50292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Doppio click su un file .bat per avviare</a:t>
            </a:r>
            <a:br/>
            <a:r>
              <a:t>il server di gestione. Zero installazioni.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931920"/>
            <a:ext cx="2743200" cy="2194560"/>
          </a:xfrm>
          <a:prstGeom prst="roundRect">
            <a:avLst/>
          </a:prstGeom>
          <a:solidFill>
            <a:srgbClr val="F5F6FA"/>
          </a:solidFill>
          <a:ln w="1270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3931920"/>
            <a:ext cx="274320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9A84C"/>
                </a:solidFill>
                <a:latin typeface="Calibri"/>
              </a:defRPr>
            </a:pPr>
            <a:r>
              <a:t>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572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A6B"/>
                </a:solidFill>
                <a:latin typeface="Calibri"/>
              </a:defRPr>
            </a:pPr>
            <a:r>
              <a:t>Link PDF tutti verificati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50292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Ogni link a documenti PDF è stato verificato</a:t>
            </a:r>
            <a:br/>
            <a:r>
              <a:t>e punta al dominio originale della scuola.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81160" y="3931920"/>
            <a:ext cx="2743200" cy="2194560"/>
          </a:xfrm>
          <a:prstGeom prst="roundRect">
            <a:avLst/>
          </a:prstGeom>
          <a:solidFill>
            <a:srgbClr val="F5F6FA"/>
          </a:solidFill>
          <a:ln w="12700">
            <a:solidFill>
              <a:srgbClr val="E0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81160" y="3931920"/>
            <a:ext cx="274320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6404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9A84C"/>
                </a:solidFill>
                <a:latin typeface="Calibri"/>
              </a:defRPr>
            </a:pPr>
            <a:r>
              <a:t>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64040" y="4572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A6B"/>
                </a:solidFill>
                <a:latin typeface="Calibri"/>
              </a:defRPr>
            </a:pPr>
            <a:r>
              <a:t>Copiabile su chiavetta USB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64040" y="50292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L'intero sito è una singola cartella.</a:t>
            </a:r>
            <a:br/>
            <a:r>
              <a:t>Backup = copia su chiavetta. Migrazione = copia.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Come effettuare il deploy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94960" cy="50292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39496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6B"/>
                </a:solidFill>
                <a:latin typeface="Calibri"/>
              </a:defRPr>
            </a:pPr>
            <a:r>
              <a:t>OPZIONE A: Hosting esistente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A84C"/>
                </a:solidFill>
                <a:latin typeface="Calibri"/>
              </a:defRPr>
            </a:pPr>
            <a:r>
              <a:t>Pubblicare sullo STESSO server attuale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651760"/>
            <a:ext cx="365760" cy="365760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517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Accedere al pannello di controllo hosting (cPanel)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200400"/>
            <a:ext cx="365760" cy="365760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004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Aprire il File Manager nella document root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749039"/>
            <a:ext cx="365760" cy="365760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749039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Spostare/rinominare la cartella Joomla attuale come backup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297679"/>
            <a:ext cx="365760" cy="365760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97679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Caricare TUTTI i file del nuovo sito (upload ZIP + estrai)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846320"/>
            <a:ext cx="365760" cy="365760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463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Verificare che index.html sia nella root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394960"/>
            <a:ext cx="365760" cy="365760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394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Il sito è online! Stessa URL, nessuna modifica DNS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5394960" cy="50292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371600"/>
            <a:ext cx="539496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6B"/>
                </a:solidFill>
                <a:latin typeface="Calibri"/>
              </a:defRPr>
            </a:pPr>
            <a:r>
              <a:t>OPZIONE B: Hosting gratuito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A84C"/>
                </a:solidFill>
                <a:latin typeface="Calibri"/>
              </a:defRPr>
            </a:pPr>
            <a:r>
              <a:t>GitHub Pages / Netlify / Cloudflare Pages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651760"/>
            <a:ext cx="365760" cy="365760"/>
          </a:xfrm>
          <a:prstGeom prst="ellipse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6517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Creare account gratuito su GitHub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3200400"/>
            <a:ext cx="365760" cy="365760"/>
          </a:xfrm>
          <a:prstGeom prst="ellipse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20040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Creare un repository e caricare i file del sito</a:t>
            </a:r>
          </a:p>
        </p:txBody>
      </p:sp>
      <p:sp>
        <p:nvSpPr>
          <p:cNvPr id="29" name="Oval 28"/>
          <p:cNvSpPr/>
          <p:nvPr/>
        </p:nvSpPr>
        <p:spPr>
          <a:xfrm>
            <a:off x="6492240" y="3749039"/>
            <a:ext cx="365760" cy="365760"/>
          </a:xfrm>
          <a:prstGeom prst="ellipse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49039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Attivare GitHub Pages nelle impostazioni del repo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297679"/>
            <a:ext cx="365760" cy="365760"/>
          </a:xfrm>
          <a:prstGeom prst="ellipse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297679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Il sito è online su nomescuola.github.io</a:t>
            </a:r>
          </a:p>
        </p:txBody>
      </p:sp>
      <p:sp>
        <p:nvSpPr>
          <p:cNvPr id="33" name="Oval 32"/>
          <p:cNvSpPr/>
          <p:nvPr/>
        </p:nvSpPr>
        <p:spPr>
          <a:xfrm>
            <a:off x="6492240" y="4846320"/>
            <a:ext cx="365760" cy="365760"/>
          </a:xfrm>
          <a:prstGeom prst="ellipse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84632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Configurare dominio personalizzato (opzionale):</a:t>
            </a:r>
            <a:br/>
            <a:r>
              <a:t>     saettalivatinoravanusa.edu.it &gt; GitHub Pages</a:t>
            </a:r>
          </a:p>
        </p:txBody>
      </p:sp>
      <p:sp>
        <p:nvSpPr>
          <p:cNvPr id="35" name="Oval 34"/>
          <p:cNvSpPr/>
          <p:nvPr/>
        </p:nvSpPr>
        <p:spPr>
          <a:xfrm>
            <a:off x="6492240" y="5394960"/>
            <a:ext cx="365760" cy="365760"/>
          </a:xfrm>
          <a:prstGeom prst="ellipse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3949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HTTPS automatico e gratuito incluso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solidFill>
            <a:srgbClr val="E3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19088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A6B"/>
                </a:solidFill>
                <a:latin typeface="Calibri"/>
              </a:defRPr>
            </a:pPr>
            <a:r>
              <a:t>Requisiti tecnici: NESSUNO. Il sito non richiede database, PHP, o configurazioni server. Solo file statici.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Vantaggi economici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94960" cy="4114800"/>
          </a:xfrm>
          <a:prstGeom prst="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C3545"/>
                </a:solidFill>
                <a:latin typeface="Calibri"/>
              </a:defRPr>
            </a:pPr>
            <a:r>
              <a:t>Sito attuale (Joomla)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5394960" cy="36576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Hosting PHP + MySQL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03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DC3545"/>
                </a:solidFill>
                <a:latin typeface="Calibri"/>
              </a:defRPr>
            </a:pPr>
            <a:r>
              <a:t>50 - 150 euro/anno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06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Manutenzione CMS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60603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DC3545"/>
                </a:solidFill>
                <a:latin typeface="Calibri"/>
              </a:defRPr>
            </a:pPr>
            <a:r>
              <a:t>Tempo-uomo significativo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Licenze template/plugin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1089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DC3545"/>
                </a:solidFill>
                <a:latin typeface="Calibri"/>
              </a:defRPr>
            </a:pPr>
            <a:r>
              <a:t>Variabile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11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Interventi di emergenza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611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DC3545"/>
                </a:solidFill>
                <a:latin typeface="Calibri"/>
              </a:defRPr>
            </a:pPr>
            <a:r>
              <a:t>Frequenti e costosi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502920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TOTALE STIMATO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6177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100 - 300+ euro/anno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371600"/>
            <a:ext cx="5394960" cy="4114800"/>
          </a:xfrm>
          <a:prstGeom prst="rect">
            <a:avLst/>
          </a:prstGeom>
          <a:solidFill>
            <a:srgbClr val="D4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98754"/>
                </a:solidFill>
                <a:latin typeface="Calibri"/>
              </a:defRPr>
            </a:pPr>
            <a:r>
              <a:t>Nuovo sito (Statico)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5394960" cy="36576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Hosting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103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98754"/>
                </a:solidFill>
                <a:latin typeface="Calibri"/>
              </a:defRPr>
            </a:pPr>
            <a:r>
              <a:t>GRATUITO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606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Manutenzione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260603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98754"/>
                </a:solidFill>
                <a:latin typeface="Calibri"/>
              </a:defRPr>
            </a:pPr>
            <a:r>
              <a:t>ZERO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Licenze software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31089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98754"/>
                </a:solidFill>
                <a:latin typeface="Calibri"/>
              </a:defRPr>
            </a:pPr>
            <a:r>
              <a:t>Nessuna (open source)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611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Interventi emergenza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611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98754"/>
                </a:solidFill>
                <a:latin typeface="Calibri"/>
              </a:defRPr>
            </a:pPr>
            <a:r>
              <a:t>Rari e semplici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572000"/>
            <a:ext cx="5029200" cy="45720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617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TOTALE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46177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0 euro/anno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760720"/>
            <a:ext cx="7619695" cy="82296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0" y="58521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9A84C"/>
                </a:solidFill>
                <a:latin typeface="Calibri"/>
              </a:defRPr>
            </a:pPr>
            <a:r>
              <a:t>Risparmio annuo: 100 - 300+ euro + ore di manutenzione risparmiate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Conclusioni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✓  Esperienza utente superiore per famiglie, studenti e personale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4884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✓  Conformità alle Linee Guida AgID e WCAG 2.1 AA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✓  Azzeramento dei costi di hosting e manutenzione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5468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✓  Sicurezza intrinseca senza aggiornamenti continui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65760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✓  Autonomia gestionale completa: notizie, pagine, organigramma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6052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✓  Pubblicazione online automatica, zero competenze tecniche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66344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✓  Accessibilità certificabile (Dichiarazione su form.agid.gov.it)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9A84C"/>
                </a:solidFill>
                <a:latin typeface="Calibri"/>
              </a:defRPr>
            </a:pPr>
            <a:r>
              <a:t>Si sottopone la presente proposta all'approvazione del Team Digitale</a:t>
            </a:r>
            <a:br/>
            <a:r>
              <a:t>per procedere alla pubblicazione del nuovo sito istituzionale.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CC"/>
                </a:solidFill>
                <a:latin typeface="Calibri"/>
              </a:defRPr>
            </a:pPr>
            <a:r>
              <a:t>IISS "Giudici Saetta e Livatino"</a:t>
            </a:r>
            <a:br/>
            <a:r>
              <a:t>Ravanusa e Campobello di Licata (AG)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AA"/>
                </a:solidFill>
                <a:latin typeface="Calibri"/>
              </a:defRPr>
            </a:pPr>
            <a:r>
              <a:t>Marzo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1828800"/>
            <a:ext cx="8534095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4846320"/>
            <a:ext cx="8534095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"Non si tratta di cambiare un sito web.</a:t>
            </a:r>
            <a:br/>
            <a:r>
              <a:t>Si tratta di dare alla nostra comunità scolastica</a:t>
            </a:r>
            <a:br/>
            <a:r>
              <a:t>lo strumento digitale che merita."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9A84C"/>
                </a:solidFill>
                <a:latin typeface="Calibri"/>
              </a:defRPr>
            </a:pPr>
            <a:r>
              <a:t>Prof. Enrico Maria Caruso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778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DD"/>
                </a:solidFill>
                <a:latin typeface="Calibri"/>
              </a:defRPr>
            </a:pPr>
            <a:r>
              <a:t>Docente di Informatica - IISS "Giudici Saetta e Livatino"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